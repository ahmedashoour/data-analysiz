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8" r:id="rId12"/>
    <p:sldId id="270" r:id="rId13"/>
    <p:sldId id="271" r:id="rId14"/>
    <p:sldId id="272" r:id="rId15"/>
    <p:sldId id="274" r:id="rId16"/>
    <p:sldId id="275" r:id="rId17"/>
    <p:sldId id="276" r:id="rId18"/>
    <p:sldId id="278" r:id="rId19"/>
    <p:sldId id="279" r:id="rId20"/>
    <p:sldId id="280" r:id="rId21"/>
    <p:sldId id="281" r:id="rId22"/>
    <p:sldId id="282" r:id="rId23"/>
    <p:sldId id="283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335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DATA PULSE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Analytics — Final Project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 |  Supervised by: ENG. [Mona Abdelaziz]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May 13,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[7 Names]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is undergoing rapid digital financial transformation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38.5% of Egyptian adults actively use digital payments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barrier: "Lack of Trust (38.6%)" — directly linked to fraud exposure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integrates 5 datasets to answer: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infrastructure investment reduce fraud risk while supporting economic growth?"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survey data, fraud logs, cybersecurity infrastructure, government contracts &amp; GDP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005840"/>
            <a:ext cx="2834640" cy="10058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0" y="1097280"/>
            <a:ext cx="2834640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0" y="1629461"/>
            <a:ext cx="28346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Adoption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148840"/>
            <a:ext cx="2834640" cy="100584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2240280"/>
            <a:ext cx="2834640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38.6%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852160" y="2772461"/>
            <a:ext cx="28346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Barrier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3291840"/>
            <a:ext cx="2834640" cy="10058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3383280"/>
            <a:ext cx="2834640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852160" y="3915461"/>
            <a:ext cx="28346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Datasets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01752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FINDEX Microdata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World Bank 2024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Digital adoption behavior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PaySim Fraud Logs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Kaggle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Fraud pattern detection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Secure Servers WDI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World Bank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Cybersecurity infrastructure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Contract Awards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World Bank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Digital investment tracking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GDP Quarterly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CAPMAS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Macroeconomic growth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Technical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3291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Cleaning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6.3M+ records via Pandas. Handling missing values using fillna() and dropna()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20240" cy="3291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18288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6060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derived features using Vectorized Operations to decode behavioral patterns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920240" cy="3291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18288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Statistics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individual records into aggregated indicators using groupby() and .agg()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005840"/>
            <a:ext cx="1920240" cy="3291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675120" y="18288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6060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hypotheses through statistical distributions and correlation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This pipeline is modular and scalable — the same logic can be migrated to PySpark for TB-scale data on a Distributed Cluster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Environment &amp; Shared Operations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1887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manipulation &amp; transformation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11887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299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029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numerical operations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11887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5117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5511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visualizations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11887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7238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07238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&amp; advanced plotting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593592"/>
            <a:ext cx="11887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5935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35935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execution &amp; file access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OPERATIONS (ALL FILES)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508760"/>
            <a:ext cx="2286000" cy="411480"/>
          </a:xfrm>
          <a:prstGeom prst="rect">
            <a:avLst/>
          </a:prstGeom>
          <a:solidFill>
            <a:srgbClr val="EB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pd.read_csv() / pd.read_excel()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32320" y="1508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029968"/>
            <a:ext cx="2286000" cy="411480"/>
          </a:xfrm>
          <a:prstGeom prst="rect">
            <a:avLst/>
          </a:prstGeom>
          <a:solidFill>
            <a:srgbClr val="EB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0299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drop_duplicates()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32320" y="20299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redundant records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551176"/>
            <a:ext cx="2286000" cy="411480"/>
          </a:xfrm>
          <a:prstGeom prst="rect">
            <a:avLst/>
          </a:prstGeom>
          <a:solidFill>
            <a:srgbClr val="EB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5511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fillna() / dropna()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0" y="25511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072384"/>
            <a:ext cx="2286000" cy="411480"/>
          </a:xfrm>
          <a:prstGeom prst="rect">
            <a:avLst/>
          </a:prstGeom>
          <a:solidFill>
            <a:srgbClr val="EB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0723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isnull().sum()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32320" y="30723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audit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FINDEX — 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1: digital_usage_category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df['digital_usage_category'] = df.apply(dig_cat, axis=1)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Digital User</a:t>
            </a: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38.5%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Account, No Digital</a:t>
            </a: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</a:t>
            </a: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2: age_group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df['age_group'] = df['age'].apply(age_group)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19456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/ Young Adult / Middle Age / Senior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Working-age adults (25–54)</a:t>
            </a:r>
            <a:endParaRPr lang="en-US" sz="13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60.3%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sample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features use Vectorized Operations via apply() for processing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FINDEX — Statistical Analysis &amp; Comparative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502920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38 years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14.87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Survey Weight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514600"/>
            <a:ext cx="50292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Analysis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2971800"/>
            <a:ext cx="1280160" cy="13716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9718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31.6%</a:t>
            </a:r>
            <a:endParaRPr lang="en-US" sz="1400" dirty="0"/>
          </a:p>
        </p:txBody>
      </p:sp>
      <p:sp>
        <p:nvSpPr>
          <p:cNvPr id="4" name="Shape 6"/>
          <p:cNvSpPr/>
          <p:nvPr/>
        </p:nvSpPr>
        <p:spPr>
          <a:xfrm>
            <a:off x="1828800" y="2834640"/>
            <a:ext cx="1280160" cy="1508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0" y="2834640"/>
            <a:ext cx="1280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Females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45.5%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4434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show higher adoption — linked to Meeza &amp; Fawry mobile wallets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1005840"/>
            <a:ext cx="3291840" cy="3474720"/>
          </a:xfrm>
          <a:prstGeom prst="rect">
            <a:avLst/>
          </a:prstGeom>
          <a:solidFill>
            <a:srgbClr val="EB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0" y="1005840"/>
            <a:ext cx="329184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1005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vs Rural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23560" y="1508760"/>
            <a:ext cx="1371600" cy="9144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23560" y="160020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39.6%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5623560" y="20756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69480" y="1508760"/>
            <a:ext cx="1371600" cy="91440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69480" y="160020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37.8%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269480" y="20756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23560" y="256032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of only 1.8% — reflects infrastructure disparity between urban and rural areas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FINDEX — Key Visualizations &amp;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4023360" cy="237744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365760" y="347472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concentrated between 20–55 years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(25–39) = largest group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 for digital campaigns</a:t>
            </a:r>
            <a:endParaRPr lang="en-US" sz="1200" dirty="0"/>
          </a:p>
        </p:txBody>
      </p:sp>
      <p:pic>
        <p:nvPicPr>
          <p:cNvPr id="7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05840"/>
            <a:ext cx="4023360" cy="2377440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4754880" y="347472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Trust: 38.6% — the #1 blocker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Far Away: 36.0%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directly connected to fraud exposure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— 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1: amount_category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df['amount_category'] = df['amount'].apply(amount_category)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transactions into: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/ Medium / Large / Huge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visual analysis across 6.3M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2: fraud_score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df['fraud_score'] = df['amount'] / (df['oldbalanceOrg'] + 1)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19456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transaction amount vs sender's balance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fully drained → HIGH FRAUD SIGNAL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NumPy-backed Vectorization for 6.3M row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— Statistical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200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Implication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Fraud Percentage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0.1291%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~1 in 775 transactions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Avg Fraud Amount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$1.47M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8× higher than normal ($178K)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Median Fraud Amount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$441K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Half of all fraud exceeds this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Most Targeted Type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CASH_OUT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50.1% of all fraud cases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Detection 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 Flagged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⚠️ CRITICAL SYSTEM FAILURE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8,213 real fraud cases — ZERO detected by isFlaggedFraud → Strong justification for ML-based fraud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— Key Visualizations &amp;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47472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between $100K–$500K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→ few extremely large transactions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fraud below $10K → fraudsters target high-value 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347472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occurs ONLY in CASH_OUT &amp; TRANSFER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fraud in PAYMENT, CASH_IN, DEBIT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transaction type fingerprint for ML detection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ADFA0B-D17B-1CD1-85FC-ACAF2C812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93" y="1458971"/>
            <a:ext cx="3958293" cy="1963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C842C7-4358-96A8-1EE6-06BDB227C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548" y="1481328"/>
            <a:ext cx="4588976" cy="1948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Servers — 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1: YoY_Growth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egypt_data['YoY_Growth'] = egypt_data['Secure_Servers'].pct_change() *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growth rate year-over-year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2016→2017 at 146.5%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Contracts peak year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2: Security_Level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egypt_data['Security_Level'] = egypt_data['Secure_Servers'].apply(security_level)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24028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Low / Medium / High / Very High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remains "Low"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all 15 years despite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3,468% total growth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Servers — Statistical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11887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42846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11887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14600" y="1742846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20240" cy="11887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9728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1742846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20240" cy="11887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12280" y="1742846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4297680" cy="118872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423160"/>
            <a:ext cx="429768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3,468%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65760" y="3068726"/>
            <a:ext cx="429768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Growth 2010→2024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3931920" cy="118872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423160"/>
            <a:ext cx="393192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846320" y="3068726"/>
            <a:ext cx="39319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EB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Std relative to Mean →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volatile infrastructure investment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spending, not sustained operational growth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Servers — Time Series 2010→2024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05840"/>
          <a:ext cx="3200400" cy="28346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Phase 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2010–2014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Linear steady growth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Phase 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2014–2016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Accelerating momentum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Phase 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2016–2017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Sharpest spike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Phase 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2017–2023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Plateau + fluctuations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Phase 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2023–2024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Second acceleration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2016–2017 inflection point aligns with peak contract spending year ($850M, 149 contracts)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E38E3E-7AA0-C3F7-4381-F604EA3AB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181251"/>
            <a:ext cx="5120640" cy="254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— 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Investment_Category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df_egypt['Investment_Category'] = df_egypt['Supplier Contract Amount (US$)'].apply(investment_category)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28016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$500K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 contracts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16352"/>
            <a:ext cx="128016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163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8163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$500K–$2M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8163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46704"/>
            <a:ext cx="128016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4670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34670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$2M–$10M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34670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877056"/>
            <a:ext cx="128016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7705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87705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$10M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877056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contracts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1005840"/>
            <a:ext cx="3108960" cy="36576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100584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investment is driven by</a:t>
            </a:r>
            <a:endParaRPr lang="en-US" sz="14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mega-projects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contracts are incremental spending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— Statistical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11887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65176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42846"/>
            <a:ext cx="265176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11887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097280"/>
            <a:ext cx="265176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46120" y="1742846"/>
            <a:ext cx="265176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Awarded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118872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97280"/>
            <a:ext cx="265176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1742846"/>
            <a:ext cx="265176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5029200" cy="2377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Mean Contract 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$5.6M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Median Contract 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$787K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Peak Year Contracts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149 contracts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Peak Year Investment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$850M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669280" y="2423160"/>
            <a:ext cx="3108960" cy="2377440"/>
          </a:xfrm>
          <a:prstGeom prst="rect">
            <a:avLst/>
          </a:prstGeom>
          <a:solidFill>
            <a:srgbClr val="EBF4F6"/>
          </a:solidFill>
          <a:ln/>
        </p:spPr>
      </p:sp>
      <p:sp>
        <p:nvSpPr>
          <p:cNvPr id="15" name="Text 12"/>
          <p:cNvSpPr/>
          <p:nvPr/>
        </p:nvSpPr>
        <p:spPr>
          <a:xfrm>
            <a:off x="5760720" y="242316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skew (Mean &gt;&gt; Median)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Few large contracts dominate total value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peak aligns with 146.5% server growth spike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— Investment Trend Over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94263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2016 spike: 149 contracts &amp; $850M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Post-2016 decline → project completion or funding source shift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Cross-file: 2016 investment peak → 2016–2017 server growth peak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7FE7DD-079F-6110-0264-82557C6B7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69333"/>
            <a:ext cx="4509436" cy="3211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— 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Quarterly_Growth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gdp_data['Quarterly_Growth'] = gdp_data['GDP'].pct_change() * 100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economic momentum quarter by quarter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200400" cy="91440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8346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+57–65%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Quarter Growth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86200" y="27432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↕️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92040" y="2743200"/>
            <a:ext cx="3200400" cy="91440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8346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-58–62%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92040" y="3310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Decline Quarter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pattern = seasonal fiscal cycle — expected behavior, not economic instability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— Statistical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11887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65176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118,397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42846"/>
            <a:ext cx="265176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Quarterly GDP (M EGP)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11887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097280"/>
            <a:ext cx="265176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108,944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46120" y="1742846"/>
            <a:ext cx="265176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(M EGP)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118872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97280"/>
            <a:ext cx="265176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182,324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1742846"/>
            <a:ext cx="265176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Latest Quarter (M EGP)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5029200" cy="2377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Mean Quarterly GDP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118,397 M EGP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Median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108,944 M EGP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Standard Deviation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47,016 M EGP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Maximum (Latest Quarter)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182,324 M EGP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669280" y="2423160"/>
            <a:ext cx="3108960" cy="2377440"/>
          </a:xfrm>
          <a:prstGeom prst="rect">
            <a:avLst/>
          </a:prstGeom>
          <a:solidFill>
            <a:srgbClr val="EBF4F6"/>
          </a:solidFill>
          <a:ln/>
        </p:spPr>
      </p:sp>
      <p:sp>
        <p:nvSpPr>
          <p:cNvPr id="15" name="Text 12"/>
          <p:cNvSpPr/>
          <p:nvPr/>
        </p:nvSpPr>
        <p:spPr>
          <a:xfrm>
            <a:off x="5760720" y="242316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Std → seasonal variation between fiscal quarters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 latest quarter →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upward growth trend confirmed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— Quarterly Time Series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988468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sawtooth pattern within each fiscal year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trend: each cycle's peak is higher than the previous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Egypt's macroeconomic environment is strengthening — favorable context for digital investment returns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500D8A-07FB-ECDC-265C-1BF7EC848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82" y="882396"/>
            <a:ext cx="4663641" cy="3323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Closing the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Alignment 2001–2016 | Master DataFrame on Year | Pearson Correlation Matrix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5029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383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↑↑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383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correlation: Contracts Count ↔ Investment Volume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86200"/>
            <a:ext cx="5029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8862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886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correlation: Investment ↔ Secure Servers (12-month lag)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389120"/>
            <a:ext cx="5029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389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389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Trust-Adoption Paradox: 38.5% adoption = 38.6% trust barrier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Investment → Fraud Reduction → Trust → Digital Adoption → GDP Growth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C667105-BC2D-7CBD-72D3-E2B14CCFF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6428"/>
          <a:stretch/>
        </p:blipFill>
        <p:spPr bwMode="auto">
          <a:xfrm>
            <a:off x="158817" y="1192931"/>
            <a:ext cx="4249554" cy="2128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CDE157-1FCF-945F-978D-134CAAFAA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0769" r="-228"/>
          <a:stretch/>
        </p:blipFill>
        <p:spPr bwMode="auto">
          <a:xfrm>
            <a:off x="4408371" y="1192492"/>
            <a:ext cx="4635723" cy="212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920240"/>
          </a:xfrm>
          <a:prstGeom prst="rect">
            <a:avLst/>
          </a:prstGeom>
          <a:solidFill>
            <a:srgbClr val="EBF4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0" cy="1920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640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Trust-Adoption Paradox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38.5% adoption vs 38.6% trust barrier are statistically equal. Launch national fraud awareness campaigns targeting Young Adults (25–39). Owner: Ministry of Communications + Central Bank of Egypt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920240"/>
          </a:xfrm>
          <a:prstGeom prst="rect">
            <a:avLst/>
          </a:prstGeom>
          <a:solidFill>
            <a:srgbClr val="EBF4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0" cy="1920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640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Cybersecurity Infrastructure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536192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3,468% growth, Egypt remains 'Low' security class. Sustain investment at 2016 benchmark ($850M/year) to reach 'Medium' by 2030–2031. Owner: Ministry of Communications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023360" cy="1920240"/>
          </a:xfrm>
          <a:prstGeom prst="rect">
            <a:avLst/>
          </a:prstGeom>
          <a:solidFill>
            <a:srgbClr val="EBF4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08960"/>
            <a:ext cx="640080" cy="1920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640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ML-Based Fraud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639312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detection rate = 0% (8,213 undetected cases). Replace rule-based isFlaggedFraud with ML models using fraud_score as primary feature. Owner: Central Bank of Egypt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023360" cy="1920240"/>
          </a:xfrm>
          <a:prstGeom prst="rect">
            <a:avLst/>
          </a:prstGeom>
          <a:solidFill>
            <a:srgbClr val="EBF4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08960"/>
            <a:ext cx="640080" cy="1920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108960"/>
            <a:ext cx="640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Investment Momentum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639312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FY2016 peak ($850M, 149 contracts) is the evidence-based benchmark. Sustain or exceed this annual spending level to maintain infrastructure growth trajectory.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— Global Findex Database 2024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— World Development Indicators (IT.NET.SECR.P6)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— Finance Portal, Contract Awards in Investment Project Financing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PaySim Synthetic Financial Dataset (Rupak Roy)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CAPMAS — GDP at Factor Cost, Constant Prices, Quarterly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Colaboratory — Cloud Execution Environment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Libraries: Pandas, NumPy, Matplotlib, Seaborn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2628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Data Pulse Challenge — Big Data &amp; Analytics — Academic Year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1622</Words>
  <Application>Microsoft Office PowerPoint</Application>
  <PresentationFormat>On-screen Show (16:9)</PresentationFormat>
  <Paragraphs>357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Egypt Data Pulse Challenge</dc:title>
  <dc:subject>PptxGenJS Presentation</dc:subject>
  <dc:creator>PptxGenJS</dc:creator>
  <cp:lastModifiedBy>Basma Mohsen</cp:lastModifiedBy>
  <cp:revision>3</cp:revision>
  <dcterms:created xsi:type="dcterms:W3CDTF">2026-05-13T00:09:22Z</dcterms:created>
  <dcterms:modified xsi:type="dcterms:W3CDTF">2026-05-13T03:07:13Z</dcterms:modified>
</cp:coreProperties>
</file>